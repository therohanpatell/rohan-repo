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Failure Rate %</c:v>
                </c:pt>
              </c:strCache>
            </c:strRef>
          </c:tx>
          <c:spPr>
            <a:solidFill>
              <a:srgbClr val="1565C0"/>
            </a:solidFill>
            <a:ln w="2540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Apr-06</c:v>
                  </c:pt>
                  <c:pt idx="1">
                    <c:v>Apr-10</c:v>
                  </c:pt>
                  <c:pt idx="2">
                    <c:v>Apr-14</c:v>
                  </c:pt>
                  <c:pt idx="3">
                    <c:v>Apr-18</c:v>
                  </c:pt>
                  <c:pt idx="4">
                    <c:v>Apr-22</c:v>
                  </c:pt>
                  <c:pt idx="5">
                    <c:v>Apr-26</c:v>
                  </c:pt>
                  <c:pt idx="6">
                    <c:v>Apr-30</c:v>
                  </c:pt>
                  <c:pt idx="7">
                    <c:v>May-02</c:v>
                  </c:pt>
                  <c:pt idx="8">
                    <c:v>May-05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3.1</c:v>
                </c:pt>
                <c:pt idx="1">
                  <c:v>2.8</c:v>
                </c:pt>
                <c:pt idx="2">
                  <c:v>4.5</c:v>
                </c:pt>
                <c:pt idx="3">
                  <c:v>8.2</c:v>
                </c:pt>
                <c:pt idx="4">
                  <c:v>5.1</c:v>
                </c:pt>
                <c:pt idx="5">
                  <c:v>3.8</c:v>
                </c:pt>
                <c:pt idx="6">
                  <c:v>6.1</c:v>
                </c:pt>
                <c:pt idx="7">
                  <c:v>9.4</c:v>
                </c:pt>
                <c:pt idx="8">
                  <c:v>5.7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(5%)</c:v>
                </c:pt>
              </c:strCache>
            </c:strRef>
          </c:tx>
          <c:spPr>
            <a:solidFill>
              <a:srgbClr val="C62828"/>
            </a:solidFill>
            <a:ln w="25400" cap="flat">
              <a:solidFill>
                <a:srgbClr val="C628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Apr-06</c:v>
                  </c:pt>
                  <c:pt idx="1">
                    <c:v>Apr-10</c:v>
                  </c:pt>
                  <c:pt idx="2">
                    <c:v>Apr-14</c:v>
                  </c:pt>
                  <c:pt idx="3">
                    <c:v>Apr-18</c:v>
                  </c:pt>
                  <c:pt idx="4">
                    <c:v>Apr-22</c:v>
                  </c:pt>
                  <c:pt idx="5">
                    <c:v>Apr-26</c:v>
                  </c:pt>
                  <c:pt idx="6">
                    <c:v>Apr-30</c:v>
                  </c:pt>
                  <c:pt idx="7">
                    <c:v>May-02</c:v>
                  </c:pt>
                  <c:pt idx="8">
                    <c:v>May-05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15223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Passed</c:v>
                </c:pt>
              </c:strCache>
            </c:strRef>
          </c:tx>
          <c:spPr>
            <a:solidFill>
              <a:srgbClr val="006A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Apr-29</c:v>
                  </c:pt>
                  <c:pt idx="1">
                    <c:v>Apr-30</c:v>
                  </c:pt>
                  <c:pt idx="2">
                    <c:v>May-01</c:v>
                  </c:pt>
                  <c:pt idx="3">
                    <c:v>May-02</c:v>
                  </c:pt>
                  <c:pt idx="4">
                    <c:v>May-03</c:v>
                  </c:pt>
                  <c:pt idx="5">
                    <c:v>May-04</c:v>
                  </c:pt>
                  <c:pt idx="6">
                    <c:v>May-05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1142</c:v>
                </c:pt>
                <c:pt idx="1">
                  <c:v>1088</c:v>
                </c:pt>
                <c:pt idx="2">
                  <c:v>1150</c:v>
                </c:pt>
                <c:pt idx="3">
                  <c:v>1160</c:v>
                </c:pt>
                <c:pt idx="4">
                  <c:v>1102</c:v>
                </c:pt>
                <c:pt idx="5">
                  <c:v>1188</c:v>
                </c:pt>
                <c:pt idx="6">
                  <c:v>1135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Apr-29</c:v>
                  </c:pt>
                  <c:pt idx="1">
                    <c:v>Apr-30</c:v>
                  </c:pt>
                  <c:pt idx="2">
                    <c:v>May-01</c:v>
                  </c:pt>
                  <c:pt idx="3">
                    <c:v>May-02</c:v>
                  </c:pt>
                  <c:pt idx="4">
                    <c:v>May-03</c:v>
                  </c:pt>
                  <c:pt idx="5">
                    <c:v>May-04</c:v>
                  </c:pt>
                  <c:pt idx="6">
                    <c:v>May-05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86</c:v>
                </c:pt>
                <c:pt idx="1">
                  <c:v>134</c:v>
                </c:pt>
                <c:pt idx="2">
                  <c:v>72</c:v>
                </c:pt>
                <c:pt idx="3">
                  <c:v>62</c:v>
                </c:pt>
                <c:pt idx="4">
                  <c:v>120</c:v>
                </c:pt>
                <c:pt idx="5">
                  <c:v>34</c:v>
                </c:pt>
                <c:pt idx="6">
                  <c:v>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15223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Failures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A1B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695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86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COMPLETENESS</c:v>
                  </c:pt>
                  <c:pt idx="1">
                    <c:v>TIMELINESS</c:v>
                  </c:pt>
                  <c:pt idx="2">
                    <c:v>UNIQUENESS</c:v>
                  </c:pt>
                  <c:pt idx="3">
                    <c:v>VALIDITY</c:v>
                  </c:pt>
                  <c:pt idx="4">
                    <c:v>CONSISTENCY</c:v>
                  </c:pt>
                  <c:pt idx="5">
                    <c:v>REFERENTIAL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</c:v>
                </c:pt>
                <c:pt idx="1">
                  <c:v>47</c:v>
                </c:pt>
                <c:pt idx="2">
                  <c:v>38</c:v>
                </c:pt>
                <c:pt idx="3">
                  <c:v>29</c:v>
                </c:pt>
                <c:pt idx="4">
                  <c:v>18</c:v>
                </c:pt>
                <c:pt idx="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52236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(min)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B0C4D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cur_payroll_records</c:v>
                  </c:pt>
                  <c:pt idx="1">
                    <c:v>stg_workday_employees</c:v>
                  </c:pt>
                  <c:pt idx="2">
                    <c:v>cur_learning_completions</c:v>
                  </c:pt>
                  <c:pt idx="3">
                    <c:v>stg_recruitment_data</c:v>
                  </c:pt>
                  <c:pt idx="4">
                    <c:v>con_headcount_summary</c:v>
                  </c:pt>
                  <c:pt idx="5">
                    <c:v>cur_sickness_absence</c:v>
                  </c:pt>
                  <c:pt idx="6">
                    <c:v>stg_hybrid_working</c:v>
                  </c:pt>
                  <c:pt idx="7">
                    <c:v>con_attrition_report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18.2</c:v>
                </c:pt>
                <c:pt idx="1">
                  <c:v>12.4</c:v>
                </c:pt>
                <c:pt idx="2">
                  <c:v>9.8</c:v>
                </c:pt>
                <c:pt idx="3">
                  <c:v>8.1</c:v>
                </c:pt>
                <c:pt idx="4">
                  <c:v>6.3</c:v>
                </c:pt>
                <c:pt idx="5">
                  <c:v>5.7</c:v>
                </c:pt>
                <c:pt idx="6">
                  <c:v>4.9</c:v>
                </c:pt>
                <c:pt idx="7">
                  <c:v>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B0C4D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5223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12161520" cy="2468880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DASHBOARD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|  Dataplex DQ Scans  |  100-150 BigQuery Tables  |  CSV Daily Workflow  |  Lloyds Technology Centre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1691640" cy="502920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246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Health Strip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3246120"/>
            <a:ext cx="169164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3246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Trend Panel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3246120"/>
            <a:ext cx="1691640" cy="502920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0" y="3246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Table Breakdown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3246120"/>
            <a:ext cx="1691640" cy="502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3246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Dimensions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55280" y="3246120"/>
            <a:ext cx="169164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55280" y="3246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Scan Health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784080" y="3246120"/>
            <a:ext cx="169164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84080" y="3246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Drill-Down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663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Data Engineering Team   |   LTC Internal   |   May 2025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029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defines the layout, data sources, and metrics for each dashboard section.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02336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MONITOR  |  Dataplex Data Quality Dashboard  |  Power BI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338560" y="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48640"/>
            <a:ext cx="54864" cy="42062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Health Strip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2336" y="8229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KPI cards always visible at the top of every page  |  Source: dq_result  |  run_dt = TODAY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234440"/>
            <a:ext cx="2176272" cy="2331720"/>
          </a:xfrm>
          <a:prstGeom prst="rect">
            <a:avLst/>
          </a:prstGeom>
          <a:solidFill>
            <a:srgbClr val="0D2B1E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234440"/>
            <a:ext cx="2176272" cy="457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1325880"/>
            <a:ext cx="621792" cy="621792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02996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9184" y="265176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DQ SCORE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9184" y="292608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AVG(pass_ratio) x 100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96896" y="1234440"/>
            <a:ext cx="2176272" cy="2331720"/>
          </a:xfrm>
          <a:prstGeom prst="rect">
            <a:avLst/>
          </a:prstGeom>
          <a:solidFill>
            <a:srgbClr val="2B0D0D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96896" y="1234440"/>
            <a:ext cx="2176272" cy="457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64992" y="1325880"/>
            <a:ext cx="621792" cy="62179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96896" y="202996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670048" y="265176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IN BREACH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70048" y="292608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table_name WHERE FAIL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937760" y="1234440"/>
            <a:ext cx="2176272" cy="2331720"/>
          </a:xfrm>
          <a:prstGeom prst="rect">
            <a:avLst/>
          </a:prstGeom>
          <a:solidFill>
            <a:srgbClr val="2B1A0D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1234440"/>
            <a:ext cx="2176272" cy="45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1325880"/>
            <a:ext cx="621792" cy="62179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02996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010912" y="265176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FAILURES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10912" y="292608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AND severity = Critical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78624" y="1234440"/>
            <a:ext cx="2176272" cy="2331720"/>
          </a:xfrm>
          <a:prstGeom prst="rect">
            <a:avLst/>
          </a:prstGeom>
          <a:solidFill>
            <a:srgbClr val="0D1A2B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78624" y="1234440"/>
            <a:ext cx="2176272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1325880"/>
            <a:ext cx="621792" cy="62179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78624" y="202996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351776" y="265176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SCANS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51776" y="292608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hours_since_scan &gt; 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619488" y="1234440"/>
            <a:ext cx="2176272" cy="2331720"/>
          </a:xfrm>
          <a:prstGeom prst="rect">
            <a:avLst/>
          </a:prstGeom>
          <a:solidFill>
            <a:srgbClr val="1A0D2B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619488" y="1234440"/>
            <a:ext cx="2176272" cy="457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87584" y="1325880"/>
            <a:ext cx="621792" cy="62179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19488" y="202996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9692640" y="265176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FAILURES TODAY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692640" y="292608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vs yesterday FAIL count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6032" y="3730752"/>
            <a:ext cx="6858000" cy="2697480"/>
          </a:xfrm>
          <a:prstGeom prst="rect">
            <a:avLst/>
          </a:prstGeom>
          <a:solidFill>
            <a:srgbClr val="152236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56032" y="3730752"/>
            <a:ext cx="68580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382219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Implementation Notes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47472" y="413308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New Card (Visualizations pane → Card icon)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47472" y="453542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Score DAX:  DIVIDE(CALCULATE(COUNTROWS(...), status='PASS'), COUNTROWS(...))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47472" y="493776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colour — Green &gt;= 95%  |  Amber 85-95%  |  Red &lt; 85%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47472" y="534009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in Breach: CALCULATE(DISTINCTCOUNT(table_name), validation_status='FAIL')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47472" y="574243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Scans: COUNTROWS(FILTER(dq_result, hours_since_scan &gt; 6))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315200" y="3730752"/>
            <a:ext cx="4572000" cy="2697480"/>
          </a:xfrm>
          <a:prstGeom prst="rect">
            <a:avLst/>
          </a:prstGeom>
          <a:solidFill>
            <a:srgbClr val="16133A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315200" y="3730752"/>
            <a:ext cx="4572000" cy="457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38221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Scenario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461504" y="413308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morning scan completes at 08:30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461504" y="437997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Score = 91.2%  (Amber threshold)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61504" y="462686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in Breach = 12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461504" y="487375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Failures = 4 new overnight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461504" y="51206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Scans = 1  (coverage gap)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461504" y="536752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Failures = +9 vs yesterday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461504" y="561441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461504" y="586130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Weekend batch job likely failed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461504" y="61081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Engineer navigates to Section 03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02336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MONITOR  |  Dataplex Data Quality Dashboard  |  Power BI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338560" y="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48640"/>
            <a:ext cx="54864" cy="42062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Trend Panel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2336" y="8229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quality improving or getting worse?  |  Source: dq_result GROUP BY run_dt  |  7 / 14 / 30 day windows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188720"/>
            <a:ext cx="5577840" cy="2834640"/>
          </a:xfrm>
          <a:prstGeom prst="rect">
            <a:avLst/>
          </a:prstGeom>
          <a:solidFill>
            <a:srgbClr val="152236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188720"/>
            <a:ext cx="557784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2801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Failure Rate % — 30 Days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1517904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SUM(failed_count) / SUM(evaluated_count) x 100  |  Red dashed = 5% threshold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92608" y="1737360"/>
          <a:ext cx="5486400" cy="2176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6126480" y="1188720"/>
            <a:ext cx="5760720" cy="2834640"/>
          </a:xfrm>
          <a:prstGeom prst="rect">
            <a:avLst/>
          </a:prstGeom>
          <a:solidFill>
            <a:srgbClr val="152236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26480" y="1188720"/>
            <a:ext cx="5760720" cy="45720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72784" y="128016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Passed vs Failed per Day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72784" y="1517904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COUNT(validation_status) per run_dt  |  Green = PASS  |  Red = FAIL</a:t>
            </a:r>
            <a:endParaRPr lang="en-US" sz="900" dirty="0"/>
          </a:p>
        </p:txBody>
      </p:sp>
      <p:graphicFrame>
        <p:nvGraphicFramePr>
          <p:cNvPr id="17" name="Chart 1" descr=""/>
          <p:cNvGraphicFramePr/>
          <p:nvPr/>
        </p:nvGraphicFramePr>
        <p:xfrm>
          <a:off x="6163056" y="1737360"/>
          <a:ext cx="5687568" cy="2176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Shape 14"/>
          <p:cNvSpPr/>
          <p:nvPr/>
        </p:nvSpPr>
        <p:spPr>
          <a:xfrm>
            <a:off x="256032" y="4206240"/>
            <a:ext cx="11649456" cy="2331720"/>
          </a:xfrm>
          <a:prstGeom prst="rect">
            <a:avLst/>
          </a:prstGeom>
          <a:solidFill>
            <a:srgbClr val="152236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56032" y="4206240"/>
            <a:ext cx="11649456" cy="457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02336" y="4297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Failures  —  Rules Failing 3+ Consecutive Days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02336" y="455371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streak descending  |  Root-cause problems vs one-off anomalies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4773168"/>
          <a:ext cx="11576304" cy="1627632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1371600"/>
                <a:gridCol w="1005840"/>
                <a:gridCol w="914400"/>
                <a:gridCol w="1005840"/>
                <a:gridCol w="1005840"/>
                <a:gridCol w="2889504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Rows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pass_ratio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null_check_employee_id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stg_workday_employees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— upstream feed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uniqueness_pay_ref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cur_payroll_records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dedup logic broken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range_check_salary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cur_employee_details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range change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02336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MONITOR  |  Dataplex Data Quality Dashboard  |  Power BI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338560" y="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48640"/>
            <a:ext cx="54864" cy="42062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Table-Level Breakdown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2336" y="8229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tables are failing?  |  100-150 tables sortable by DQ Score  |  Click row to drill-through to Section 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188720"/>
            <a:ext cx="7223760" cy="3291840"/>
          </a:xfrm>
          <a:prstGeom prst="rect">
            <a:avLst/>
          </a:prstGeom>
          <a:solidFill>
            <a:srgbClr val="152236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188720"/>
            <a:ext cx="7223760" cy="457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2801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Grid  —  One Row per BigQuery Table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1517904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by DQ Score  |  Layer derived from table prefix  |  Click row -&gt; drill-through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1737360"/>
          <a:ext cx="7150608" cy="2633472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  <a:gridCol w="822960"/>
                <a:gridCol w="868680"/>
                <a:gridCol w="822960"/>
                <a:gridCol w="1069848"/>
                <a:gridCol w="4572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table_name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Failing Rules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fail_count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Scan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stg_workday_employees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May-05 08:42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cur_payroll_records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May-05 08:31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stg_recruitment_data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May-05 07:58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con_headcount_summary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May-05 09:02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cur_sickness_absence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Sickness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May-05 08:15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stg_learning_completions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FAILED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6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6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May-03 22:00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726680" y="1188720"/>
            <a:ext cx="4178808" cy="3291840"/>
          </a:xfrm>
          <a:prstGeom prst="rect">
            <a:avLst/>
          </a:prstGeom>
          <a:solidFill>
            <a:srgbClr val="152236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26680" y="1188720"/>
            <a:ext cx="4178808" cy="45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72984" y="12801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Heatmap  —  Table x Date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872984" y="15179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AVG(pass_ratio) per cell  |  Green &gt;= 95%  |  Amber 85-95%  |  Red &lt; 85%</a:t>
            </a:r>
            <a:endParaRPr lang="en-US" sz="9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63256" y="1737360"/>
          <a:ext cx="4105656" cy="2633472"/>
        </p:xfrm>
        <a:graphic>
          <a:graphicData uri="http://schemas.openxmlformats.org/drawingml/2006/table">
            <a:tbl>
              <a:tblPr/>
              <a:tblGrid>
                <a:gridCol w="1143000"/>
                <a:gridCol w="740664"/>
                <a:gridCol w="740664"/>
                <a:gridCol w="740664"/>
                <a:gridCol w="740664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\ 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May-03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May-05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stg_workday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414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cur_payroll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0D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stg_recruit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414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con_headcount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stg_learning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414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256032" y="4645152"/>
            <a:ext cx="11649456" cy="1965960"/>
          </a:xfrm>
          <a:prstGeom prst="rect">
            <a:avLst/>
          </a:prstGeom>
          <a:solidFill>
            <a:srgbClr val="16133A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56032" y="4645152"/>
            <a:ext cx="11649456" cy="457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02336" y="47365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Filters  (Slicers — sync across all pages via View -&gt; Sync Slicers)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47472" y="5029200"/>
            <a:ext cx="2194560" cy="1444752"/>
          </a:xfrm>
          <a:prstGeom prst="rect">
            <a:avLst/>
          </a:prstGeom>
          <a:solidFill>
            <a:srgbClr val="1E3050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7472" y="5029200"/>
            <a:ext cx="2194560" cy="144475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(today / 7d / 30d / custom)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2651760" y="5029200"/>
            <a:ext cx="2194560" cy="1444752"/>
          </a:xfrm>
          <a:prstGeom prst="rect">
            <a:avLst/>
          </a:prstGeom>
          <a:solidFill>
            <a:srgbClr val="1E3050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651760" y="5029200"/>
            <a:ext cx="2194560" cy="144475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(Staging / Curation / Consumption)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956048" y="5029200"/>
            <a:ext cx="2194560" cy="1444752"/>
          </a:xfrm>
          <a:prstGeom prst="rect">
            <a:avLst/>
          </a:prstGeom>
          <a:solidFill>
            <a:srgbClr val="1E3050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956048" y="5029200"/>
            <a:ext cx="2194560" cy="144475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(HR / Payroll / Recruitment / Headcount)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7260336" y="5029200"/>
            <a:ext cx="2194560" cy="1444752"/>
          </a:xfrm>
          <a:prstGeom prst="rect">
            <a:avLst/>
          </a:prstGeom>
          <a:solidFill>
            <a:srgbClr val="1E3050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260336" y="5029200"/>
            <a:ext cx="2194560" cy="144475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(Critical / High / Medium / Low)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9564624" y="5029200"/>
            <a:ext cx="2194560" cy="1444752"/>
          </a:xfrm>
          <a:prstGeom prst="rect">
            <a:avLst/>
          </a:prstGeom>
          <a:solidFill>
            <a:srgbClr val="1E3050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9564624" y="5029200"/>
            <a:ext cx="2194560" cy="144475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Status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(PASS / FAIL / All)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02336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MONITOR  |  Dataplex Data Quality Dashboard  |  Power BI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338560" y="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48640"/>
            <a:ext cx="54864" cy="42062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Rule Dimension Analysis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2336" y="8229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 of DQ problem dominates?  |  Source: dq_result.category  |  Guides remediation strategy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170432"/>
            <a:ext cx="2578608" cy="1417320"/>
          </a:xfrm>
          <a:prstGeom prst="rect">
            <a:avLst/>
          </a:prstGeom>
          <a:solidFill>
            <a:srgbClr val="2B0D0D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170432"/>
            <a:ext cx="2578608" cy="457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28016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153619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" y="197510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219456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employee_id IS NOT NULL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1170432"/>
            <a:ext cx="2578608" cy="1417320"/>
          </a:xfrm>
          <a:prstGeom prst="rect">
            <a:avLst/>
          </a:prstGeom>
          <a:solidFill>
            <a:srgbClr val="1A0D2B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62656" y="1170432"/>
            <a:ext cx="2578608" cy="457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54096" y="128016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54096" y="153619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054096" y="197510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54096" y="219456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MAX(load_date) &gt;= TODAY-1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69280" y="1170432"/>
            <a:ext cx="2578608" cy="1417320"/>
          </a:xfrm>
          <a:prstGeom prst="rect">
            <a:avLst/>
          </a:prstGeom>
          <a:solidFill>
            <a:srgbClr val="0D1A2B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1170432"/>
            <a:ext cx="2578608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128016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153619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760720" y="197510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60720" y="219456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COUNT(DISTINCT pay_ref) = COUNT(*)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032" y="2724912"/>
            <a:ext cx="2578608" cy="1417320"/>
          </a:xfrm>
          <a:prstGeom prst="rect">
            <a:avLst/>
          </a:prstGeom>
          <a:solidFill>
            <a:srgbClr val="2B1A0D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2724912"/>
            <a:ext cx="2578608" cy="45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83464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309067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347472" y="352958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7472" y="374904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BETWEEN 0 AND 500000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962656" y="2724912"/>
            <a:ext cx="2578608" cy="1417320"/>
          </a:xfrm>
          <a:prstGeom prst="rect">
            <a:avLst/>
          </a:prstGeom>
          <a:solidFill>
            <a:srgbClr val="0D2B26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962656" y="2724912"/>
            <a:ext cx="2578608" cy="457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54096" y="283464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054096" y="309067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3054096" y="352958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054096" y="374904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end_date &gt;= start_date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669280" y="2724912"/>
            <a:ext cx="2578608" cy="1417320"/>
          </a:xfrm>
          <a:prstGeom prst="rect">
            <a:avLst/>
          </a:prstGeom>
          <a:solidFill>
            <a:srgbClr val="0D2B1E"/>
          </a:solidFill>
          <a:ln w="12700">
            <a:solidFill>
              <a:srgbClr val="00A8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669280" y="2724912"/>
            <a:ext cx="2578608" cy="457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0" y="283464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60720" y="309067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5760720" y="352958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60720" y="374904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dept_id IN (SELECT id FROM ref)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394192" y="1170432"/>
            <a:ext cx="3511296" cy="3108960"/>
          </a:xfrm>
          <a:prstGeom prst="rect">
            <a:avLst/>
          </a:prstGeom>
          <a:solidFill>
            <a:srgbClr val="152236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394192" y="1170432"/>
            <a:ext cx="3511296" cy="457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40496" y="1261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by Dimension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540496" y="14813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WHERE FAIL  |  GROUP BY category</a:t>
            </a:r>
            <a:endParaRPr lang="en-US" sz="900" dirty="0"/>
          </a:p>
        </p:txBody>
      </p:sp>
      <p:graphicFrame>
        <p:nvGraphicFramePr>
          <p:cNvPr id="48" name="Chart 0" descr=""/>
          <p:cNvGraphicFramePr/>
          <p:nvPr/>
        </p:nvGraphicFramePr>
        <p:xfrm>
          <a:off x="8430768" y="1700784"/>
          <a:ext cx="3438144" cy="24505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9" name="Shape 46"/>
          <p:cNvSpPr/>
          <p:nvPr/>
        </p:nvSpPr>
        <p:spPr>
          <a:xfrm>
            <a:off x="256032" y="4279392"/>
            <a:ext cx="11649456" cy="2350008"/>
          </a:xfrm>
          <a:prstGeom prst="rect">
            <a:avLst/>
          </a:prstGeom>
          <a:solidFill>
            <a:srgbClr val="152236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256032" y="4279392"/>
            <a:ext cx="11649456" cy="457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02336" y="437083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x Layer Cross-Tab  —  Which layer introduces each failure type  -&gt;  guides remediation direction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4645152"/>
          <a:ext cx="11576304" cy="1901952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  <a:gridCol w="1097280"/>
                <a:gridCol w="1188720"/>
                <a:gridCol w="5815584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Nulls from WORKDAY_FEED_A  -&gt;  fix upstream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 logic broken in Curation 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 DAG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delays at ingestion  -&gt;  check DAG schedule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C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table stale at Consumption 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02336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MONITOR  |  Dataplex Data Quality Dashboard  |  Power BI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338560" y="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48640"/>
            <a:ext cx="54864" cy="42062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Scan Execution Health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2336" y="8229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150 scans running on schedule?  |  Source: scan_id / job_id / pipeline_execution_timestamp / execution_duration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170432"/>
            <a:ext cx="2176272" cy="1261872"/>
          </a:xfrm>
          <a:prstGeom prst="rect">
            <a:avLst/>
          </a:prstGeom>
          <a:solidFill>
            <a:srgbClr val="2B1A0D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170432"/>
            <a:ext cx="2176272" cy="45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35331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148/150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9184" y="188366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RUN (24 HRS)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96896" y="1170432"/>
            <a:ext cx="2176272" cy="1261872"/>
          </a:xfrm>
          <a:prstGeom prst="rect">
            <a:avLst/>
          </a:prstGeom>
          <a:solidFill>
            <a:srgbClr val="0D2B1E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96896" y="1170432"/>
            <a:ext cx="2176272" cy="457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96896" y="135331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70048" y="188366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SUCCEEDED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37760" y="1170432"/>
            <a:ext cx="2176272" cy="1261872"/>
          </a:xfrm>
          <a:prstGeom prst="rect">
            <a:avLst/>
          </a:prstGeom>
          <a:solidFill>
            <a:srgbClr val="2B0D0D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1170432"/>
            <a:ext cx="2176272" cy="457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35331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010912" y="188366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FAILED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278624" y="1170432"/>
            <a:ext cx="2176272" cy="1261872"/>
          </a:xfrm>
          <a:prstGeom prst="rect">
            <a:avLst/>
          </a:prstGeom>
          <a:solidFill>
            <a:srgbClr val="0D1A2B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78624" y="1170432"/>
            <a:ext cx="2176272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78624" y="135331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min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51776" y="188366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SCAN DURATION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619488" y="1170432"/>
            <a:ext cx="2176272" cy="1261872"/>
          </a:xfrm>
          <a:prstGeom prst="rect">
            <a:avLst/>
          </a:prstGeom>
          <a:solidFill>
            <a:srgbClr val="2B1A0D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19488" y="1170432"/>
            <a:ext cx="2176272" cy="45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19488" y="135331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692640" y="188366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6032" y="2596896"/>
            <a:ext cx="5394960" cy="4005072"/>
          </a:xfrm>
          <a:prstGeom prst="rect">
            <a:avLst/>
          </a:prstGeom>
          <a:solidFill>
            <a:srgbClr val="152236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2596896"/>
            <a:ext cx="539496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268833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Duration per Table  (Top 8 Slowest)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2336" y="29077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SUM(execution_duration) per scan_id  |  Spikes = table growth or cost concern</a:t>
            </a:r>
            <a:endParaRPr lang="en-US" sz="9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292608" y="3127248"/>
          <a:ext cx="5321808" cy="3310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Shape 30"/>
          <p:cNvSpPr/>
          <p:nvPr/>
        </p:nvSpPr>
        <p:spPr>
          <a:xfrm>
            <a:off x="5897880" y="2596896"/>
            <a:ext cx="6007608" cy="4005072"/>
          </a:xfrm>
          <a:prstGeom prst="rect">
            <a:avLst/>
          </a:prstGeom>
          <a:solidFill>
            <a:srgbClr val="152236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897880" y="2596896"/>
            <a:ext cx="6007608" cy="45720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44184" y="268833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Coverage Map  —  Last Scan Status per Table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044184" y="290779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oldest-scan-first  |  FAILED scan = blind spot  |  &gt; 6 hrs = stale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34456" y="3127248"/>
          <a:ext cx="5934456" cy="3310128"/>
        </p:xfrm>
        <a:graphic>
          <a:graphicData uri="http://schemas.openxmlformats.org/drawingml/2006/table">
            <a:tbl>
              <a:tblPr/>
              <a:tblGrid>
                <a:gridCol w="2103120"/>
                <a:gridCol w="1051560"/>
                <a:gridCol w="1188720"/>
                <a:gridCol w="1097280"/>
                <a:gridCol w="493776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Scan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Hrs Since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stg_learning_completions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03-May 22:00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FAILED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hrs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cur_performance_reviews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04-May 06:00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hrs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stg_workday_employees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05-May 08:00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SUCCEEDED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cur_payroll_records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05-May 08:31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SUCCEEDED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stg_recruitment_data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05-May 07:58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SUCCEEDED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con_headcount_summary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05-May 09:02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SUCCEEDED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hr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cur_sickness_absence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05-May 08:15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SUCCEEDED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hr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02336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MONITOR  |  Dataplex Data Quality Dashboard  |  Power BI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338560" y="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48640"/>
            <a:ext cx="54864" cy="42062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— Investigation Drill-Down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2336" y="8229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arrives here via right-click -&gt; drill-through on Section 03  |  Filtered to selected table_name  |  All dq_result fields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170432"/>
            <a:ext cx="11649456" cy="914400"/>
          </a:xfrm>
          <a:prstGeom prst="rect">
            <a:avLst/>
          </a:prstGeom>
          <a:solidFill>
            <a:srgbClr val="16133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2336" y="1234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Table: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1234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stg_workday_employees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" y="15179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Layer: Staging  |  Domain: HR  |  scan_id: stg-workday-dq  |  run_dt: 2025-05-05  |  partition_dt: 2025-05-05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3920" y="1216152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0" y="155448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30" kern="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SCORE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290304" y="1216152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290304" y="155448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30" kern="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FAILING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076688" y="1216152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May-05 08:42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76688" y="155448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30" kern="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SCAN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863072" y="1216152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863072" y="155448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30" kern="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STATUS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56032" y="2212848"/>
            <a:ext cx="4754880" cy="2633472"/>
          </a:xfrm>
          <a:prstGeom prst="rect">
            <a:avLst/>
          </a:prstGeom>
          <a:solidFill>
            <a:srgbClr val="152236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212848"/>
            <a:ext cx="4754880" cy="457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23042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Rule-Level Failure Detail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" y="252374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WHERE table_name = 'stg_workday_employees' AND validation_status = 'FAIL'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2743200"/>
          <a:ext cx="4681728" cy="1975104"/>
        </p:xfrm>
        <a:graphic>
          <a:graphicData uri="http://schemas.openxmlformats.org/drawingml/2006/table">
            <a:tbl>
              <a:tblPr/>
              <a:tblGrid>
                <a:gridCol w="1417320"/>
                <a:gridCol w="1097280"/>
                <a:gridCol w="685800"/>
                <a:gridCol w="685800"/>
                <a:gridCol w="685800"/>
                <a:gridCol w="658368"/>
                <a:gridCol w="3657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fail_count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pass_ratio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null_count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null_check_employee_id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A9B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range_check_salary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A9B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fmt_check_ni_number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A8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A9B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5193792" y="2212848"/>
            <a:ext cx="6711696" cy="2633472"/>
          </a:xfrm>
          <a:prstGeom prst="rect">
            <a:avLst/>
          </a:prstGeom>
          <a:solidFill>
            <a:srgbClr val="152236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193792" y="2212848"/>
            <a:ext cx="6711696" cy="45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40096" y="23042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error_message  +  sql_query  (null_check_employee_id)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230368" y="2596896"/>
            <a:ext cx="6638544" cy="475488"/>
          </a:xfrm>
          <a:prstGeom prst="rect">
            <a:avLst/>
          </a:prstGeom>
          <a:solidFill>
            <a:srgbClr val="3B1414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266944" y="2615184"/>
            <a:ext cx="656539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NON_NULL_EXPECTATION on column employee_id failed. 1847 out of 145234 rows evaluated (1.27%) did not meet expectation. pass_ratio=0.8727 did not meet threshold=0.95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340096" y="314553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sql_query  (copy and run directly in BigQuery to inspect failing rows):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230368" y="3346704"/>
            <a:ext cx="6638544" cy="138988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21808" y="3401568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D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321808" y="3602736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D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`ap-peocur-bld-01-57f9.ap_peocur_bld_01_bqd_euwe2_recon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321808" y="3803904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D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.stg_workday_employees`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321808" y="400507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D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employee_id IS NULL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321808" y="4206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D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partition_dt = '2025-05-05'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321808" y="4407408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D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1000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56032" y="4992624"/>
            <a:ext cx="5943600" cy="1636776"/>
          </a:xfrm>
          <a:prstGeom prst="rect">
            <a:avLst/>
          </a:prstGeom>
          <a:solidFill>
            <a:srgbClr val="152236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256032" y="4992624"/>
            <a:ext cx="5943600" cy="457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02336" y="508406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Failing Records  (actual_result from dq_result table)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02336" y="5303520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WORKDAY_FEED_A sending records with null employee_id</a:t>
            </a:r>
            <a:endParaRPr lang="en-US" sz="8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5486400"/>
          <a:ext cx="5870448" cy="1060704"/>
        </p:xfrm>
        <a:graphic>
          <a:graphicData uri="http://schemas.openxmlformats.org/drawingml/2006/table">
            <a:tbl>
              <a:tblPr/>
              <a:tblGrid>
                <a:gridCol w="914400"/>
                <a:gridCol w="1645920"/>
                <a:gridCol w="1188720"/>
                <a:gridCol w="2121408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employee_name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load_date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source_system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Smith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2025-05-05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WORKDAY_FEED_A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Patel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2025-05-05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WORKDAY_FEED_A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 Chang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2025-05-05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WORKDAY_FEED_A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3" name="Text 39"/>
          <p:cNvSpPr/>
          <p:nvPr/>
        </p:nvSpPr>
        <p:spPr>
          <a:xfrm>
            <a:off x="292608" y="6565392"/>
            <a:ext cx="5870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3 of 1,847 failing rows. All from WORKDAY_FEED_A  -&gt;  source feed investigation required.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6382512" y="4992624"/>
            <a:ext cx="5522976" cy="1636776"/>
          </a:xfrm>
          <a:prstGeom prst="rect">
            <a:avLst/>
          </a:prstGeom>
          <a:solidFill>
            <a:srgbClr val="1A0E0A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6382512" y="4992624"/>
            <a:ext cx="5522976" cy="45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528816" y="508406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Impact  —  Failures cascade to dependent tables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528816" y="53400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stg_workday_employees  &lt;- SOURCE OF FAILURE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6528816" y="56144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-&gt;  cur_employee_details  -&gt;  con_headcount_summary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6528816" y="58887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-&gt;  cur_leavers_joiners  -&gt;  con_attrition_report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6528816" y="616305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-&gt;  cur_hybrid_working  -&gt;  con_hybrid_dashboard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6528816" y="643737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downstream tables at risk  |  Fix staging table first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02336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MONITOR  |  Dataplex Data Quality Dashboard  |  Power BI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338560" y="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48640"/>
            <a:ext cx="54864" cy="42062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 —  Power BI Star Schema + Key DAX Measures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2336" y="8229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 CSV -&gt; Import mode  |  dim_Date relationship  |  Measures table  |  6 dashboard pages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2286000"/>
            <a:ext cx="3291840" cy="1920240"/>
          </a:xfrm>
          <a:prstGeom prst="rect">
            <a:avLst/>
          </a:prstGeom>
          <a:solidFill>
            <a:srgbClr val="0D2B1E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2286000"/>
            <a:ext cx="3291840" cy="457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23591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34840" y="2560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dq_result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29992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check_id  |  table_name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17720" y="32186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validation_status  |  category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17720" y="34381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pass_ratio  |  failed_count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17720" y="36576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run_dt  |  partition_dt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17720" y="38770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execution_duration  |  severity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286000"/>
            <a:ext cx="2743200" cy="1920240"/>
          </a:xfrm>
          <a:prstGeom prst="rect">
            <a:avLst/>
          </a:prstGeom>
          <a:solidFill>
            <a:srgbClr val="152236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86000"/>
            <a:ext cx="27432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359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560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2926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(PK)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1729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 |  MonthNum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4198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MonthName  |  WeekNum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6667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DayName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144000" y="2286000"/>
            <a:ext cx="2743200" cy="1920240"/>
          </a:xfrm>
          <a:prstGeom prst="rect">
            <a:avLst/>
          </a:prstGeom>
          <a:solidFill>
            <a:srgbClr val="152236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0" y="2286000"/>
            <a:ext cx="2743200" cy="457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2359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TABLE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0" y="2560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_Measures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26880" y="2926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Score 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326880" y="31729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in Breach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326880" y="34198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Failures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326880" y="36667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Scans  |  New Failures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326880" y="39136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Colour  |  ...30 more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17520" y="3246120"/>
            <a:ext cx="1417320" cy="0"/>
          </a:xfrm>
          <a:prstGeom prst="line">
            <a:avLst/>
          </a:prstGeom>
          <a:noFill/>
          <a:ln w="12700">
            <a:solidFill>
              <a:srgbClr val="00A8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26680" y="3246120"/>
            <a:ext cx="1417320" cy="0"/>
          </a:xfrm>
          <a:prstGeom prst="line">
            <a:avLst/>
          </a:prstGeom>
          <a:noFill/>
          <a:ln w="12700">
            <a:solidFill>
              <a:srgbClr val="00A8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0" y="307238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Many:1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017520" y="32552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run_dt -&gt; Date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74320" y="4407408"/>
            <a:ext cx="11631168" cy="2176272"/>
          </a:xfrm>
          <a:prstGeom prst="rect">
            <a:avLst/>
          </a:prstGeom>
          <a:solidFill>
            <a:srgbClr val="152236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4407408"/>
            <a:ext cx="11631168" cy="45720"/>
          </a:xfrm>
          <a:prstGeom prst="rect">
            <a:avLst/>
          </a:prstGeom>
          <a:solidFill>
            <a:srgbClr val="006A4D"/>
          </a:solidFill>
          <a:ln w="12700">
            <a:solidFill>
              <a:srgbClr val="006A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" y="4498848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DAX Measures Quick Reference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" y="4773168"/>
          <a:ext cx="11558016" cy="173736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7534656"/>
              </a:tblGrid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Summary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 Score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Strip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DIVIDE(SUM(passed_count), SUM(evaluated_count)) * 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 in Breach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Strip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CALCULATE(DISTINCTCOUNT(table_name), validation_status='FAIL')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Failure Rate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Panel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SUM(failed_count) / SUM(evaluated_count) * 100  GROUP BY run_dt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Heatmap DQ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Breakdown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passed_count / evaluated_count * 100  per table per 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Heatmap Colour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Breakdown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hex: green &gt;= 95%  |  amber 85-95%  |  red &lt; 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 Failures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 Analysis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COUNTROWS WHERE FAIL  GROUP BY 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Scan Duration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Health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AVERAGE(execution_duration / 60)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Gaps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Health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COUNTROWS WHERE hours_since_scan &gt; 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2026-05-11T04:06:10Z</dcterms:created>
  <dcterms:modified xsi:type="dcterms:W3CDTF">2026-05-11T04:06:10Z</dcterms:modified>
</cp:coreProperties>
</file>