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 %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Apr-06</c:v>
                  </c:pt>
                  <c:pt idx="1">
                    <c:v>Apr-09</c:v>
                  </c:pt>
                  <c:pt idx="2">
                    <c:v>Apr-12</c:v>
                  </c:pt>
                  <c:pt idx="3">
                    <c:v>Apr-15</c:v>
                  </c:pt>
                  <c:pt idx="4">
                    <c:v>Apr-18</c:v>
                  </c:pt>
                  <c:pt idx="5">
                    <c:v>Apr-21</c:v>
                  </c:pt>
                  <c:pt idx="6">
                    <c:v>Apr-24</c:v>
                  </c:pt>
                  <c:pt idx="7">
                    <c:v>Apr-27</c:v>
                  </c:pt>
                  <c:pt idx="8">
                    <c:v>Apr-30</c:v>
                  </c:pt>
                  <c:pt idx="9">
                    <c:v>May-03</c:v>
                  </c:pt>
                  <c:pt idx="10">
                    <c:v>May-05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3.1</c:v>
                </c:pt>
                <c:pt idx="1">
                  <c:v>2.8</c:v>
                </c:pt>
                <c:pt idx="2">
                  <c:v>4.5</c:v>
                </c:pt>
                <c:pt idx="3">
                  <c:v>8.2</c:v>
                </c:pt>
                <c:pt idx="4">
                  <c:v>7.9</c:v>
                </c:pt>
                <c:pt idx="5">
                  <c:v>5.1</c:v>
                </c:pt>
                <c:pt idx="6">
                  <c:v>4.3</c:v>
                </c:pt>
                <c:pt idx="7">
                  <c:v>3.8</c:v>
                </c:pt>
                <c:pt idx="8">
                  <c:v>6.1</c:v>
                </c:pt>
                <c:pt idx="9">
                  <c:v>9.4</c:v>
                </c:pt>
                <c:pt idx="10">
                  <c:v>5.7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(5%)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Apr-06</c:v>
                  </c:pt>
                  <c:pt idx="1">
                    <c:v>Apr-09</c:v>
                  </c:pt>
                  <c:pt idx="2">
                    <c:v>Apr-12</c:v>
                  </c:pt>
                  <c:pt idx="3">
                    <c:v>Apr-15</c:v>
                  </c:pt>
                  <c:pt idx="4">
                    <c:v>Apr-18</c:v>
                  </c:pt>
                  <c:pt idx="5">
                    <c:v>Apr-21</c:v>
                  </c:pt>
                  <c:pt idx="6">
                    <c:v>Apr-24</c:v>
                  </c:pt>
                  <c:pt idx="7">
                    <c:v>Apr-27</c:v>
                  </c:pt>
                  <c:pt idx="8">
                    <c:v>Apr-30</c:v>
                  </c:pt>
                  <c:pt idx="9">
                    <c:v>May-03</c:v>
                  </c:pt>
                  <c:pt idx="10">
                    <c:v>May-05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06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Apr-27</c:v>
                  </c:pt>
                  <c:pt idx="1">
                    <c:v>Apr-28</c:v>
                  </c:pt>
                  <c:pt idx="2">
                    <c:v>Apr-29</c:v>
                  </c:pt>
                  <c:pt idx="3">
                    <c:v>Apr-30</c:v>
                  </c:pt>
                  <c:pt idx="4">
                    <c:v>May-01</c:v>
                  </c:pt>
                  <c:pt idx="5">
                    <c:v>May-02</c:v>
                  </c:pt>
                  <c:pt idx="6">
                    <c:v>May-03</c:v>
                  </c:pt>
                  <c:pt idx="7">
                    <c:v>May-04</c:v>
                  </c:pt>
                  <c:pt idx="8">
                    <c:v>May-05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1180</c:v>
                </c:pt>
                <c:pt idx="1">
                  <c:v>1195</c:v>
                </c:pt>
                <c:pt idx="2">
                  <c:v>1140</c:v>
                </c:pt>
                <c:pt idx="3">
                  <c:v>1088</c:v>
                </c:pt>
                <c:pt idx="4">
                  <c:v>1150</c:v>
                </c:pt>
                <c:pt idx="5">
                  <c:v>1160</c:v>
                </c:pt>
                <c:pt idx="6">
                  <c:v>1102</c:v>
                </c:pt>
                <c:pt idx="7">
                  <c:v>1188</c:v>
                </c:pt>
                <c:pt idx="8">
                  <c:v>1135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Apr-27</c:v>
                  </c:pt>
                  <c:pt idx="1">
                    <c:v>Apr-28</c:v>
                  </c:pt>
                  <c:pt idx="2">
                    <c:v>Apr-29</c:v>
                  </c:pt>
                  <c:pt idx="3">
                    <c:v>Apr-30</c:v>
                  </c:pt>
                  <c:pt idx="4">
                    <c:v>May-01</c:v>
                  </c:pt>
                  <c:pt idx="5">
                    <c:v>May-02</c:v>
                  </c:pt>
                  <c:pt idx="6">
                    <c:v>May-03</c:v>
                  </c:pt>
                  <c:pt idx="7">
                    <c:v>May-04</c:v>
                  </c:pt>
                  <c:pt idx="8">
                    <c:v>May-05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42</c:v>
                </c:pt>
                <c:pt idx="1">
                  <c:v>27</c:v>
                </c:pt>
                <c:pt idx="2">
                  <c:v>82</c:v>
                </c:pt>
                <c:pt idx="3">
                  <c:v>134</c:v>
                </c:pt>
                <c:pt idx="4">
                  <c:v>72</c:v>
                </c:pt>
                <c:pt idx="5">
                  <c:v>62</c:v>
                </c:pt>
                <c:pt idx="6">
                  <c:v>120</c:v>
                </c:pt>
                <c:pt idx="7">
                  <c:v>34</c:v>
                </c:pt>
                <c:pt idx="8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cur_payroll</c:v>
                  </c:pt>
                  <c:pt idx="1">
                    <c:v>stg_workday</c:v>
                  </c:pt>
                  <c:pt idx="2">
                    <c:v>cur_learning</c:v>
                  </c:pt>
                  <c:pt idx="3">
                    <c:v>stg_recruit</c:v>
                  </c:pt>
                  <c:pt idx="4">
                    <c:v>con_headcount</c:v>
                  </c:pt>
                  <c:pt idx="5">
                    <c:v>cur_sickness</c:v>
                  </c:pt>
                  <c:pt idx="6">
                    <c:v>stg_hybrid</c:v>
                  </c:pt>
                  <c:pt idx="7">
                    <c:v>con_attrition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</c:v>
                </c:pt>
                <c:pt idx="1">
                  <c:v>12.4</c:v>
                </c:pt>
                <c:pt idx="2">
                  <c:v>9.8</c:v>
                </c:pt>
                <c:pt idx="3">
                  <c:v>8.1</c:v>
                </c:pt>
                <c:pt idx="4">
                  <c:v>6.3</c:v>
                </c:pt>
                <c:pt idx="5">
                  <c:v>5.7</c:v>
                </c:pt>
                <c:pt idx="6">
                  <c:v>4.9</c:v>
                </c:pt>
                <c:pt idx="7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Count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9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E34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Completeness</c:v>
                  </c:pt>
                  <c:pt idx="1">
                    <c:v>Timeliness</c:v>
                  </c:pt>
                  <c:pt idx="2">
                    <c:v>Uniqueness</c:v>
                  </c:pt>
                  <c:pt idx="3">
                    <c:v>Validity</c:v>
                  </c:pt>
                  <c:pt idx="4">
                    <c:v>Consistency</c:v>
                  </c:pt>
                  <c:pt idx="5">
                    <c:v>Referential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47</c:v>
                </c:pt>
                <c:pt idx="2">
                  <c:v>38</c:v>
                </c:pt>
                <c:pt idx="3">
                  <c:v>29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</a:rPr>
              <a:t>DATA QUALITY MONITORING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300" kern="0" dirty="0">
                <a:solidFill>
                  <a:srgbClr val="4FC3F7"/>
                </a:solidFill>
              </a:rPr>
              <a:t>DASHBOARD — POWER BI WIREFRAME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</a:rPr>
              <a:t>Dataplex DQ Scans  ·  100–150 BigQuery Tables  ·  3-Layer Architecture  ·  Lloyds Technology Centre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011680" cy="54864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Health Strip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154680"/>
            <a:ext cx="201168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16352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Trend Panel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92624" y="3154680"/>
            <a:ext cx="2011680" cy="5486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92624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Table Breakdown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68896" y="3154680"/>
            <a:ext cx="201168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68896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 Scan Exec Health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45168" y="3154680"/>
            <a:ext cx="201168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45168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 Drill-Down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Prepared by  Data Engineering Team   |   LTC Internal   |   May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D6A7"/>
                </a:solidFill>
              </a:rPr>
              <a:t>This wireframe defines the layout, visuals, and data logic for each dashboard section.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Dataplex DQ Monitoring Dashboard  |  Power BI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2 /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64008" cy="47548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8"/>
                </a:solidFill>
              </a:rPr>
              <a:t>Section 1 — Health Strip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Five KPI cards always visible at the top of the dashboard · Answers: Is everything OK right now?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14884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148840" cy="54864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444752"/>
            <a:ext cx="594360" cy="594360"/>
          </a:xfrm>
          <a:prstGeom prst="ellipse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444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103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A4D"/>
                </a:solidFill>
              </a:rPr>
              <a:t>94.7%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5760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E2A38"/>
                </a:solidFill>
              </a:rPr>
              <a:t>OVERALL DQ SCORE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Rules Passed / Total Rules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1353312"/>
            <a:ext cx="1234440" cy="82296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6896" y="1325880"/>
            <a:ext cx="2148840" cy="2103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96896" y="1325880"/>
            <a:ext cx="21488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1444752"/>
            <a:ext cx="594360" cy="5943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444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88336" y="2103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</a:rPr>
              <a:t>8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688336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E2A38"/>
                </a:solidFill>
              </a:rPr>
              <a:t>TABLES IN BREACH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88336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Tables with ≥1 failure today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54096" y="1353312"/>
            <a:ext cx="1234440" cy="822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325880"/>
            <a:ext cx="2148840" cy="2103120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1325880"/>
            <a:ext cx="21488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96712" y="1444752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96712" y="1444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10912" y="2103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5100"/>
                </a:solidFill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010912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E2A38"/>
                </a:solidFill>
              </a:rPr>
              <a:t>CRITICAL FAILURES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10912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HIGH severity rules failing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76672" y="1353312"/>
            <a:ext cx="1234440" cy="822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42048" y="1325880"/>
            <a:ext cx="214884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1325880"/>
            <a:ext cx="21488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9288" y="1444752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19288" y="1444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33488" y="2103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</a:rPr>
              <a:t>2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333488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E2A38"/>
                </a:solidFill>
              </a:rPr>
              <a:t>STALE SCANS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33488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No scan in last 6 hours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99248" y="1353312"/>
            <a:ext cx="123444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64624" y="1325880"/>
            <a:ext cx="2148840" cy="2103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564624" y="1325880"/>
            <a:ext cx="21488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41864" y="1444752"/>
            <a:ext cx="594360" cy="5943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41864" y="1444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656064" y="2103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</a:rPr>
              <a:t>+5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656064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E2A38"/>
                </a:solidFill>
              </a:rPr>
              <a:t>NEW FAILURES TODAY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656064" y="2999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Delta vs yesterday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021824" y="1353312"/>
            <a:ext cx="1234440" cy="822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611880"/>
            <a:ext cx="1161288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749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8"/>
                </a:solidFill>
              </a:rPr>
              <a:t>Power BI Implementation Notes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4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Visual type: Card (New Card in PBI Desktop)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3708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4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DQ Score DAX: DIVIDE(CALCULATE(COUNTROWS(...), status="PASS"), COUNTROWS(...))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7000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4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Conditional colour: Green ≥ 95% · Amber 85–95% · Red &lt; 85%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50292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4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Tables in Breach: CALCULATE(DISTINCTCOUNT(table_name), status="FAIL")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3583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4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Stale Scans: FILTER(dim_scans, DATEDIFF(last_scan_time, NOW(), HOUR) &gt; 6)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3703320"/>
            <a:ext cx="5669280" cy="2788920"/>
          </a:xfrm>
          <a:prstGeom prst="rect">
            <a:avLst/>
          </a:prstGeom>
          <a:solidFill>
            <a:srgbClr val="EDE7F6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3703320"/>
            <a:ext cx="566928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3822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📋  Example Scenario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0" y="4133088"/>
            <a:ext cx="5303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</a:rPr>
              <a:t>Monday morning: DQ Score = 91.2% (Amber)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</a:rPr>
              <a:t>Tables in Breach = 12 · Critical Failures =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</a:rPr>
              <a:t>Stale Scans = 1 · New Failures = +9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</a:rPr>
              <a:t>→ Something failed over the weekend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</a:rPr>
              <a:t>→ Stale scan on 1 table = coverage gap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</a:rPr>
              <a:t>→ Engineer investigates Sections 3 &amp; 5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Dataplex DQ Monitoring Dashboard  |  Power BI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3 /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64008" cy="47548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8"/>
                </a:solidFill>
              </a:rPr>
              <a:t>Section 2 — Trend Panel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Time-series visuals answering: Is quality improving or getting worse? · 7 / 14 / 30 day windows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55778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Daily Failure Rate % (30 days)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Line chart · Y = Failure % · X = Date · Reference line at 5% threshold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20040" y="1920240"/>
          <a:ext cx="54864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080760" y="1298448"/>
            <a:ext cx="5806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1298448"/>
            <a:ext cx="5806440" cy="54864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Rules Passed vs Failed per 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1664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Stacked bar · Y = Rule count · X = Date · Green = Pass, Red = Fail</a:t>
            </a:r>
            <a:endParaRPr lang="en-US" sz="9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6126480" y="1920240"/>
          <a:ext cx="57150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274320" y="4069080"/>
            <a:ext cx="11612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4069080"/>
            <a:ext cx="1161288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4178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🔴  Chronic Failures — Rules Failing 3+ Consecutive Days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11480" y="44531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Sorted by consecutive days failing descending · Root-cause problems, not one-off anomalies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11521440" cy="1719072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  <a:gridCol w="1463040"/>
                <a:gridCol w="146304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Consecutive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stg_workday_employees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 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— upstream feed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uniqueness_pay_ref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cur_payroll_records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 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dedup logic broken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range_check_salary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cur_employee_details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 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investigate range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ref_integrity_dept_id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con_headcount_summary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 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— may self-resolve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Dataplex DQ Monitoring Dashboard  |  Power BI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4 /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64008" cy="47548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8"/>
                </a:solidFill>
              </a:rPr>
              <a:t>Section 3 — Table-Level Breakdown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Sortable grid + heatmap across all 100–150 tables · Most-used page for daily triage · Answers: Which tables are failing?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7132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7132320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📋  Table Grid  —  One row per BigQuery 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Sortable · Filterable by Layer, Domain, DQ Score threshold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01952"/>
          <a:ext cx="7040880" cy="2514600"/>
        </p:xfrm>
        <a:graphic>
          <a:graphicData uri="http://schemas.openxmlformats.org/drawingml/2006/table">
            <a:tbl>
              <a:tblPr/>
              <a:tblGrid>
                <a:gridCol w="2286000"/>
                <a:gridCol w="1051560"/>
                <a:gridCol w="1188720"/>
                <a:gridCol w="960120"/>
                <a:gridCol w="914400"/>
                <a:gridCol w="155448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Scan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stg_workday_employees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 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cur_payroll_records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 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stg_recruitment_data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 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07:58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con_headcount_summary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09:02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cur_sickness_absence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589520" y="1298448"/>
            <a:ext cx="4297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589520" y="1298448"/>
            <a:ext cx="429768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🗓  DQ Heatmap  —  Table × 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26680" y="1664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Colour: 🔴 &lt;85%  🟡 85–95%  🟢 ≥95%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901952"/>
          <a:ext cx="4206240" cy="2514600"/>
        </p:xfrm>
        <a:graphic>
          <a:graphicData uri="http://schemas.openxmlformats.org/drawingml/2006/table">
            <a:tbl>
              <a:tblPr/>
              <a:tblGrid>
                <a:gridCol w="1417320"/>
                <a:gridCol w="694944"/>
                <a:gridCol w="694944"/>
                <a:gridCol w="694944"/>
                <a:gridCol w="694944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 \ 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stg_recruit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cur_sickness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274320" y="4663440"/>
            <a:ext cx="11612880" cy="868680"/>
          </a:xfrm>
          <a:prstGeom prst="rect">
            <a:avLst/>
          </a:prstGeom>
          <a:solidFill>
            <a:srgbClr val="EDE7F6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4663440"/>
            <a:ext cx="1161288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4754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🔽  Page Filters (Slicers)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" y="504748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A38"/>
                </a:solidFill>
              </a:rPr>
              <a:t>Date Range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688336" y="504748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88336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A38"/>
                </a:solidFill>
              </a:rPr>
              <a:t>Layer: Staging / Curation / Consumption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992624" y="504748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92624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A38"/>
                </a:solidFill>
              </a:rPr>
              <a:t>Domain: HR · Payroll · Recruitment · Headcount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296912" y="504748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96912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A38"/>
                </a:solidFill>
              </a:rPr>
              <a:t>Severity: HIGH / MED / LOW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9601200" y="504748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601200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A38"/>
                </a:solidFill>
              </a:rPr>
              <a:t>Scan Status: SUCCEEDED / FAILED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Dataplex DQ Monitoring Dashboard  |  Power BI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5 /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64008" cy="47548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8"/>
                </a:solidFill>
              </a:rPr>
              <a:t>Section 4 — Scan Execution Health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Monitors whether Dataplex scans actually ran · Answers: Are all 150 scans running on schedule? Coverage gaps = blind spots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148840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21488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148/150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1E2A38"/>
                </a:solidFill>
              </a:rPr>
              <a:t>SCANS RUN (24 HRS)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96896" y="1298448"/>
            <a:ext cx="2148840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96896" y="1298448"/>
            <a:ext cx="2148840" cy="54864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A4D"/>
                </a:solidFill>
              </a:rPr>
              <a:t>146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88336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1E2A38"/>
                </a:solidFill>
              </a:rPr>
              <a:t>SCANS SUCCEEDED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19472" y="1298448"/>
            <a:ext cx="2148840" cy="1325880"/>
          </a:xfrm>
          <a:prstGeom prst="rect">
            <a:avLst/>
          </a:prstGeom>
          <a:solidFill>
            <a:srgbClr val="FFEBEE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1298448"/>
            <a:ext cx="21488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10912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1E2A38"/>
                </a:solidFill>
              </a:rPr>
              <a:t>SCANS FAILED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42048" y="1298448"/>
            <a:ext cx="2148840" cy="132588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42048" y="1298448"/>
            <a:ext cx="21488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3488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4.2 min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33488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1E2A38"/>
                </a:solidFill>
              </a:rPr>
              <a:t>AVG SCAN DURATION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564624" y="1298448"/>
            <a:ext cx="2148840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64624" y="1298448"/>
            <a:ext cx="21488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6064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3 tables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56064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1E2A38"/>
                </a:solidFill>
              </a:rPr>
              <a:t>COVERAGE GAPS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88920"/>
            <a:ext cx="5303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80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Scan Duration per Table (top 8 slowest)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1546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Bar chart · Identify resource-intensive tables · Spikes = table growth or cost concern</a:t>
            </a:r>
            <a:endParaRPr lang="en-US" sz="9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20040" y="3383280"/>
          <a:ext cx="52120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5760720" y="2788920"/>
            <a:ext cx="6126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760720" y="2788920"/>
            <a:ext cx="6126480" cy="54864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97880" y="28803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📡  Scan Coverage Map — Last Scan Status per Table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897880" y="315468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Sorted oldest-scan-first · 🔴 FAILED = coverage gap · ⚠️ &gt;6hrs = stale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383280"/>
          <a:ext cx="6035040" cy="201168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234440"/>
                <a:gridCol w="1005840"/>
                <a:gridCol w="777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 Since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stg_learning_completions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03-May 22:00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hrs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cur_sickness_absence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04-May 06:00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stg_workday_employees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cur_payroll_records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con_headcount_summary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09:02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Dataplex DQ Monitoring Dashboard  |  Power BI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6 /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64008" cy="47548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8"/>
                </a:solidFill>
              </a:rPr>
              <a:t>Section 5 — Rule Dimension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Breaks down failures by quality type · Answers: What category of problem dominates? Guides remediation strategy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3794760" cy="1353312"/>
          </a:xfrm>
          <a:prstGeom prst="rect">
            <a:avLst/>
          </a:prstGeom>
          <a:solidFill>
            <a:srgbClr val="FFEBEE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379476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08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🔲  Completeness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8"/>
                </a:solidFill>
              </a:rPr>
              <a:t>Null checks on mandatory fields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Example rule: employee_id IS NOT NULL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4528" y="1298448"/>
            <a:ext cx="3794760" cy="1353312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4528" y="1298448"/>
            <a:ext cx="37947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1408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🔑  Uniqueness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34256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8"/>
                </a:solidFill>
              </a:rPr>
              <a:t>Duplicate detection on key columns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34256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Example rule: DISTINCT pay_ref = COUNT(pay_ref)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74736" y="1298448"/>
            <a:ext cx="3794760" cy="1353312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4736" y="1298448"/>
            <a:ext cx="379476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1408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📏  Validity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4464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8"/>
                </a:solidFill>
              </a:rPr>
              <a:t>Range / format rules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84464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Example rule: salary BETWEEN 0 AND 500000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779776"/>
            <a:ext cx="3794760" cy="1353312"/>
          </a:xfrm>
          <a:prstGeom prst="rect">
            <a:avLst/>
          </a:prstGeom>
          <a:solidFill>
            <a:srgbClr val="E0F2F1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79776"/>
            <a:ext cx="3794760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</a:rPr>
              <a:t>🔗  Consistency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8"/>
                </a:solidFill>
              </a:rPr>
              <a:t>Cross-column logic checks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Example rule: end_date &gt;= start_date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24528" y="2779776"/>
            <a:ext cx="3794760" cy="1353312"/>
          </a:xfrm>
          <a:prstGeom prst="rect">
            <a:avLst/>
          </a:prstGeom>
          <a:solidFill>
            <a:srgbClr val="EDE7F6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24528" y="2779776"/>
            <a:ext cx="379476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4256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🕐  Timeliness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34256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8"/>
                </a:solidFill>
              </a:rPr>
              <a:t>Data freshness window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34256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Example rule: MAX(load_date) &gt;= TODAY - 1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74736" y="2779776"/>
            <a:ext cx="3794760" cy="1353312"/>
          </a:xfrm>
          <a:prstGeom prst="rect">
            <a:avLst/>
          </a:prstGeom>
          <a:solidFill>
            <a:srgbClr val="EFEBE9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74736" y="2779776"/>
            <a:ext cx="3794760" cy="54864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342E"/>
                </a:solidFill>
              </a:rPr>
              <a:t>🔄  Referential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84464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8"/>
                </a:solidFill>
              </a:rPr>
              <a:t>Foreign key / lookup integrity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84464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Example rule: dept_id IN (SELECT id FROM departments)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34340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343400"/>
            <a:ext cx="548640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4348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Failures by Dimension (bar chart — sorted desc)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470916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Click bar → drill through to specific failing rules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320040" y="4892040"/>
          <a:ext cx="5394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943600" y="4343400"/>
            <a:ext cx="5943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943600" y="4343400"/>
            <a:ext cx="5943600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080760" y="44348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Dimension × Layer Cross-Tab  (LTC 3-Layer Architecture)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080760" y="47091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Shows which layer is introducing each type of failure → guides remediation layer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4892040"/>
          <a:ext cx="5833872" cy="1572768"/>
        </p:xfrm>
        <a:graphic>
          <a:graphicData uri="http://schemas.openxmlformats.org/drawingml/2006/table">
            <a:tbl>
              <a:tblPr/>
              <a:tblGrid>
                <a:gridCol w="1508760"/>
                <a:gridCol w="1005840"/>
                <a:gridCol w="1005840"/>
                <a:gridCol w="1143000"/>
                <a:gridCol w="1170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Staging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Curation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Airflow DAG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Consumption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Dataplex DQ Monitoring Dashboard  |  Power BI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7 /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64008" cy="475488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8"/>
                </a:solidFill>
              </a:rPr>
              <a:t>Section 5 — Investigation Drill-Down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8869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Engineer navigates here by clicking a table in Section 3 (Power BI drill-through) · Answers: What exactly is failing and why?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11612880" cy="960120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1161288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</a:rPr>
              <a:t>🔍  Selected Table:  stg_workday_employees   ·   Layer: Staging   ·   Domain: HR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87.5%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1636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546E7A"/>
                </a:solidFill>
              </a:rPr>
              <a:t>DQ SCORE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0264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3 / 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70264" y="1636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546E7A"/>
                </a:solidFill>
              </a:rPr>
              <a:t>RULES FAILING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939528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</a:rPr>
              <a:t>05-May 08:42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39528" y="1636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546E7A"/>
                </a:solidFill>
              </a:rPr>
              <a:t>LAST SCAN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08792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A4D"/>
                </a:solidFill>
              </a:rPr>
              <a:t>SUCCEEDED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08792" y="1636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546E7A"/>
                </a:solidFill>
              </a:rPr>
              <a:t>SCAN STATUS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11612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77440"/>
            <a:ext cx="1161288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68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📋  Rule-Level Failure Detail  —  All failing rules for this table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11521440" cy="1389888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005840"/>
                <a:gridCol w="1143000"/>
                <a:gridCol w="1097280"/>
                <a:gridCol w="118872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Failing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Failing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range_check_salary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fmt_check_ni_number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74320" y="4370832"/>
            <a:ext cx="731520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4370832"/>
            <a:ext cx="731520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44622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🧪  Sample Failing Records  (exported from Dataplex DQ → BigQuery)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" y="47365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Fastest way to understand WHY a rule is failing · Only available if DQ exports to BQ results table</a:t>
            </a:r>
            <a:endParaRPr lang="en-US" sz="9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19472"/>
          <a:ext cx="7223760" cy="1481328"/>
        </p:xfrm>
        <a:graphic>
          <a:graphicData uri="http://schemas.openxmlformats.org/drawingml/2006/table">
            <a:tbl>
              <a:tblPr/>
              <a:tblGrid>
                <a:gridCol w="1234440"/>
                <a:gridCol w="1554480"/>
                <a:gridCol w="1234440"/>
                <a:gridCol w="1600200"/>
                <a:gridCol w="1600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failing_rule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Smith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05-May-2025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WORKDAY_FEED_A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Patel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05-May-2025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WORKDAY_FEED_A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Chang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05-May-2025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WORKDAY_FEED_A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772400" y="4370832"/>
            <a:ext cx="4114800" cy="2176272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772400" y="4370832"/>
            <a:ext cx="41148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90956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🔀  Downstream Impact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9095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Tables that depend on this table — failures cascade downstream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909560" y="5047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8"/>
                </a:solidFill>
              </a:rPr>
              <a:t>stg_workday_employees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909560" y="5394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 cur_employee_details  →  con_headcount_summary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909560" y="5742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 cur_leavers_joiners  →  con_attrition_report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909560" y="6089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 cur_hybrid_working   →  con_hybrid_dashboard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909560" y="6263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3 downstream tables at risk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 Dashboard Wireframe</dc:title>
  <dc:subject>PptxGenJS Presentation</dc:subject>
  <dc:creator>PptxGenJS</dc:creator>
  <cp:lastModifiedBy>PptxGenJS</cp:lastModifiedBy>
  <cp:revision>1</cp:revision>
  <dcterms:created xsi:type="dcterms:W3CDTF">2026-05-06T06:13:36Z</dcterms:created>
  <dcterms:modified xsi:type="dcterms:W3CDTF">2026-05-06T06:13:36Z</dcterms:modified>
</cp:coreProperties>
</file>